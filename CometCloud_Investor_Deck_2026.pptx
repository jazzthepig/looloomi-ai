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D4A84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COMETCLOUD</a:t>
            </a:r>
            <a:pPr indent="0" marL="0">
              <a:buNone/>
            </a:pPr>
            <a:r>
              <a:rPr lang="en-US" sz="1400" b="1" spc="500" kern="0" dirty="0">
                <a:solidFill>
                  <a:srgbClr val="C7D2F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743200" cy="237744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49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INSTITUTIONAL INTELLIGENCE · HONG KONG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AI Intelligence Layer</a:t>
            </a:r>
            <a:endParaRPr lang="en-US" sz="4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for Institutional Capital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28163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Regime-aware CIS scoring · On-chain fundamentals · AI-native deployment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273552"/>
            <a:ext cx="1920240" cy="768096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3273552"/>
            <a:ext cx="45720" cy="76809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33467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$30M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36" y="3749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Target AUM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3273552"/>
            <a:ext cx="1920240" cy="768096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3273552"/>
            <a:ext cx="45720" cy="76809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4056" y="33467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734056" y="3749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Assets Scored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3273552"/>
            <a:ext cx="1920240" cy="768096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273552"/>
            <a:ext cx="45720" cy="76809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33467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37176" y="3749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Mgmt Fee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3273552"/>
            <a:ext cx="1920240" cy="768096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3273552"/>
            <a:ext cx="45720" cy="76809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0296" y="33467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40296" y="3749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CIS Pillars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CometCloud AI · Confidential · Not for Distribution ·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3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Everyone has data.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Nobody has the framework.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123444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45720" cy="1234440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282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Bloomberg / TradFi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00253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Institutional methodology. No on-chain data. Regime models built for equities — not crypto cycles.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023360" cy="123444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00200"/>
            <a:ext cx="45720" cy="1234440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7282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Nansen / Messari / Dune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56048" y="200253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Rich on-chain analytics. No systematic scoring. No macro regime framework. Tells you what happened — not what to do.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23444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45720" cy="1234440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1455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AI Trading Bots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34198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Fast execution, zero regime awareness. A bot without regime context buys alts in a rate-hike cycle and loses.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023360" cy="123444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17520"/>
            <a:ext cx="45720" cy="1234440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31455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Retail Traders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6048" y="34198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Good at narratives, can't maintain discipline. No quantified conviction framework across 84+ assets simultaneously.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CIS: The first regime-aware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institutional score for crypto.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1508760" cy="2377440"/>
          </a:xfrm>
          <a:prstGeom prst="rect">
            <a:avLst/>
          </a:prstGeom>
          <a:solidFill>
            <a:srgbClr val="0D1438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72768"/>
            <a:ext cx="150876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6420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340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Fundamental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TVL, protocol revenue, market cap, liquidity depth, circulating supply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57400" y="1572768"/>
            <a:ext cx="1508760" cy="2377440"/>
          </a:xfrm>
          <a:prstGeom prst="rect">
            <a:avLst/>
          </a:prstGeom>
          <a:solidFill>
            <a:srgbClr val="0D1438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1572768"/>
            <a:ext cx="15087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66420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48840" y="2340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Momentum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2633472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Price trend, volume profile, relative strength, 7D/30D divergence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49040" y="1572768"/>
            <a:ext cx="1508760" cy="2377440"/>
          </a:xfrm>
          <a:prstGeom prst="rect">
            <a:avLst/>
          </a:prstGeom>
          <a:solidFill>
            <a:srgbClr val="0D14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572768"/>
            <a:ext cx="1508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66420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840480" y="2340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On-chain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2633472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Audit score, protocol age, TVL stability, smart contract risk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40680" y="1572768"/>
            <a:ext cx="1508760" cy="2377440"/>
          </a:xfrm>
          <a:prstGeom prst="rect">
            <a:avLst/>
          </a:prstGeom>
          <a:solidFill>
            <a:srgbClr val="0D143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40680" y="1572768"/>
            <a:ext cx="1508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66420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532120" y="2340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Sentiment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2633472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Fear &amp; Greed, volatility regime, BTC dominance, social signal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132320" y="1572768"/>
            <a:ext cx="1508760" cy="2377440"/>
          </a:xfrm>
          <a:prstGeom prst="rect">
            <a:avLst/>
          </a:prstGeom>
          <a:solidFill>
            <a:srgbClr val="0D1438"/>
          </a:solidFill>
          <a:ln w="12700">
            <a:solidFill>
              <a:srgbClr val="00D9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0" y="1572768"/>
            <a:ext cx="1508760" cy="54864"/>
          </a:xfrm>
          <a:prstGeom prst="rect">
            <a:avLst/>
          </a:prstGeom>
          <a:solidFill>
            <a:srgbClr val="00D98A"/>
          </a:solidFill>
          <a:ln w="12700">
            <a:solidFill>
              <a:srgbClr val="00D9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166420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223760" y="2340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Alpha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2633472"/>
            <a:ext cx="1353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Outperformance vs class benchmark, asymmetric opportunity signal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4114800"/>
            <a:ext cx="8412480" cy="658368"/>
          </a:xfrm>
          <a:prstGeom prst="rect">
            <a:avLst/>
          </a:prstGeom>
          <a:solidFill>
            <a:srgbClr val="0609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114800"/>
            <a:ext cx="45720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16052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Regime-aware: pillar weights shift dynamically across 6 macro regimes (TIGHTENING · EASING · RISK_ON · RISK_OFF · STAGFLATION · GOLDILOCKS). Most scoring systems are regime-agnostic. We're not.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ADVANTAGE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Three data layers nobody else combines.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97480" cy="3547872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5720" cy="35478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280160"/>
            <a:ext cx="2331720" cy="201168"/>
          </a:xfrm>
          <a:prstGeom prst="rect">
            <a:avLst/>
          </a:prstGeom>
          <a:solidFill>
            <a:srgbClr val="D4A843">
              <a:alpha val="25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2801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· MAC MINI M4 PRO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On-machine inference + history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" y="2057400"/>
            <a:ext cx="64008" cy="64008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99339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48GB RAM · 1TB SSD — full OHLCV history for 84 assets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" y="2606040"/>
            <a:ext cx="64008" cy="64008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54203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Gemma 27B local inference — $0/call, no API cost ceiling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" y="3154680"/>
            <a:ext cx="64008" cy="64008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09067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CIS scores logged every 30min to Supabase since April 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" y="3703320"/>
            <a:ext cx="64008" cy="64008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63931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Freqtrade paper/live trading engine — track record accumulating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54680" y="1170432"/>
            <a:ext cx="2697480" cy="3547872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170432"/>
            <a:ext cx="45720" cy="3547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280160"/>
            <a:ext cx="2331720" cy="201168"/>
          </a:xfrm>
          <a:prstGeom prst="rect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2801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· RAILWAY + UPSTASH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291840" y="1572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Real-time scores via global 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9272" y="2057400"/>
            <a:ext cx="64008" cy="640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7288" y="199339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FastAPI with 127 endpoints across 23 routers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19272" y="2606040"/>
            <a:ext cx="64008" cy="640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254203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Upstash Redis 2h TTL — CIS universe always fresh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19272" y="3154680"/>
            <a:ext cx="64008" cy="640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309067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MCP server at /mcp/sse — 35 tools for AI agents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19272" y="3703320"/>
            <a:ext cx="64008" cy="640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47288" y="363931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A2A task queue — Google A2A protocol compatible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89320" y="1170432"/>
            <a:ext cx="2697480" cy="3547872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89320" y="1170432"/>
            <a:ext cx="45720" cy="3547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62472" y="1280160"/>
            <a:ext cx="2331720" cy="201168"/>
          </a:xfrm>
          <a:prstGeom prst="rect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62472" y="12801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ON-CHAIN · DEFILLAMA + COINGECKO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126480" y="1572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Protocol fundamentals TradFi can't see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53912" y="2057400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199339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25 DeFi protocols scored with F/M/O/S/A breakdown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53912" y="2606040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254203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TVL 7D/30D flow — detect capital migration in real-time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53912" y="3154680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309067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Funding rates overlay (OI-weighted) across all exchanges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53912" y="3703320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81928" y="363931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8 asset classes: L1/L2/DeFi/RWA/Infra/Meme/Gaming/Commodity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INVESTMENT CHANNELS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Three complementary returns streams.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One intelligence layer.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697480" cy="3255264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45720" cy="32552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1645920"/>
            <a:ext cx="1920240" cy="201168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 TRADING LIVE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Trading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311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D2FE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Systematic alpha via CIS-gated execution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" y="2715768"/>
            <a:ext cx="54864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CISEnhancedStrategy on Freqtrade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4632" y="3118104"/>
            <a:ext cx="54864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540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CIS threshold gate by regime (52 in Tightening)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4632" y="3520440"/>
            <a:ext cx="54864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Paper trading accumulating since May 2026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4632" y="3922776"/>
            <a:ext cx="54864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Target: 15–25% annualised return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4632" y="4325112"/>
            <a:ext cx="54864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611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Max drawdown limit: 12%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54680" y="1463040"/>
            <a:ext cx="2697480" cy="3255264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1463040"/>
            <a:ext cx="45720" cy="32552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749040" y="1645920"/>
            <a:ext cx="1920240" cy="201168"/>
          </a:xfrm>
          <a:prstGeom prst="rect">
            <a:avLst/>
          </a:prstGeom>
          <a:solidFill>
            <a:srgbClr val="D4A843">
              <a:alpha val="20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1645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291840" y="1920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Protocol Yield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22311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D2FE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On-chain yield from top-scored DeFi protocols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19272" y="2715768"/>
            <a:ext cx="54864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Only protocols scoring B+ or above (CIS ≥ 65)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19272" y="3118104"/>
            <a:ext cx="54864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30540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RWA: ONDO, MKR, Maple — institutional counterparties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19272" y="3520440"/>
            <a:ext cx="54864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Lending: Morpho, Aave — audited, low smart contract risk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19272" y="3922776"/>
            <a:ext cx="54864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Target: 8–14% stable yield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19272" y="4325112"/>
            <a:ext cx="54864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42611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Deployed via smart routing, not manual yield farming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89320" y="1463040"/>
            <a:ext cx="2697480" cy="3255264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1463040"/>
            <a:ext cx="45720" cy="32552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53912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6583680" y="1645920"/>
            <a:ext cx="1920240" cy="201168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1645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DEVELOPMENT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126480" y="1920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Fund-of-Funds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126480" y="22311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D2FE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Solana-native, AI-curated, OSL stablecoin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53912" y="2715768"/>
            <a:ext cx="54864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On-chain LP positions in Solana ecosystem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53912" y="3118104"/>
            <a:ext cx="54864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30540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 selects allocation by CIS universe + regime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53912" y="3520440"/>
            <a:ext cx="54864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Partners: HumbleBee Capital (Drift vault)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53912" y="3922776"/>
            <a:ext cx="54864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Target: 20–30% total return on deployment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53912" y="4325112"/>
            <a:ext cx="54864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63640" y="42611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0% management fee · Performance-only fee structure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8A"/>
          </a:solidFill>
          <a:ln w="12700">
            <a:solidFill>
              <a:srgbClr val="00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RECORD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Live system. Real scores.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Data accumulating daily.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560320" cy="91440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4572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 2026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CIS history start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1508760"/>
            <a:ext cx="2560320" cy="91440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508760"/>
            <a:ext cx="45720" cy="9144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19272" y="2075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Assets scored live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508760"/>
            <a:ext cx="2560320" cy="91440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508760"/>
            <a:ext cx="45720" cy="914400"/>
          </a:xfrm>
          <a:prstGeom prst="rect">
            <a:avLst/>
          </a:prstGeom>
          <a:solidFill>
            <a:srgbClr val="00D98A"/>
          </a:solidFill>
          <a:ln w="12700">
            <a:solidFill>
              <a:srgbClr val="00D9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25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08192" y="2075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Mac Mini full engine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2560320" cy="91440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06040"/>
            <a:ext cx="457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T2: 59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0352" y="31729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Railway estimation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2606040"/>
            <a:ext cx="2560320" cy="91440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606040"/>
            <a:ext cx="45720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30min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319272" y="31729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Score refresh cycle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2606040"/>
            <a:ext cx="2560320" cy="91440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2606040"/>
            <a:ext cx="4572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08192" y="31729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API endpoints live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822192"/>
            <a:ext cx="8412480" cy="777240"/>
          </a:xfrm>
          <a:prstGeom prst="rect">
            <a:avLst/>
          </a:prstGeom>
          <a:solidFill>
            <a:srgbClr val="06091A"/>
          </a:solidFill>
          <a:ln w="12700">
            <a:solidFill>
              <a:srgbClr val="00D9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822192"/>
            <a:ext cx="45720" cy="777240"/>
          </a:xfrm>
          <a:prstGeom prst="rect">
            <a:avLst/>
          </a:prstGeom>
          <a:solidFill>
            <a:srgbClr val="00D98A"/>
          </a:solidFill>
          <a:ln w="12700">
            <a:solidFill>
              <a:srgbClr val="00D9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86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8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Next milestone: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11680" y="3886200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7D2FE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60-day paper trading track record · OHLCV history pipeline on Mac Mini SSD · Signal outcome measurement (win rate by type)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INTEGRATION · AI-NATIVE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Any AI agent. 3 steps. One endpoint.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14800" cy="320040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45720" cy="3200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43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Claude Desktop / MCP Client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" y="1664208"/>
            <a:ext cx="256032" cy="25603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1664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Add one line to config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68680" y="1920240"/>
            <a:ext cx="3364992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1E3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93852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"cometcloud": {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"url": "https://looloomi.ai/mcp/sse"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30352" y="2560320"/>
            <a:ext cx="256032" cy="25603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25603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 tools auto-available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" y="2816352"/>
            <a:ext cx="3364992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1E3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83464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get_cis_universe · get_macro_pulse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get_cis_report · get_signal_feed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get_inclusion_standard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0352" y="3456432"/>
            <a:ext cx="256032" cy="25603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34564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Ask anything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68680" y="3712464"/>
            <a:ext cx="3364992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1E3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7307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should I overweight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current regime?"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1115568"/>
            <a:ext cx="4114800" cy="320040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115568"/>
            <a:ext cx="45720" cy="32004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1243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AI Discovery &amp; Indexing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16276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/llms.txt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18653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Machine-readable API index — any LLM can auto-discover all 35 tools and endpoints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2340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/.well-known/agent.json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2578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A2A protocol agent card — Google-compatible task queue declaration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0540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/mcp/sse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291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SSE transport MCP server — Claude, GPT-4o, any MCP-compatible client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37673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glama.json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005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Glama.ai marketplace auto-registration — agents find us without manual listing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 STRUCTURE &amp; TERMS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Aligned incentives.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Aligned with the future.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69080" cy="91440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457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54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 TYPE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30352" y="17922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AI-Curated Crypto Fund-of-Funds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Solana-native · OSL stablecoin denomination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4069080" cy="91440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63040"/>
            <a:ext cx="457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554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AUM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73752" y="17922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$30M · Series Seed open now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Family offices · HNW · APAC institutional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4069080" cy="91440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42032"/>
            <a:ext cx="457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6334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 STRUCTURE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30352" y="28712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0% Management Fee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20% Performance (high-water mark)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542032"/>
            <a:ext cx="4069080" cy="91440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542032"/>
            <a:ext cx="457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6334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MINIMUM INVESTMENT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73752" y="28712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Contact Jazz directly for terms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21024"/>
            <a:ext cx="4069080" cy="91440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21024"/>
            <a:ext cx="457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7124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REGULATORY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30352" y="39502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Hong Kong · Cayman LP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Licensed structure via regulated HK partner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621024"/>
            <a:ext cx="4069080" cy="91440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21024"/>
            <a:ext cx="457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7124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LIQUIDITY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73752" y="39502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Quarterly redemption windows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On-chain settlement via Solana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COMETCLOUD · WHY NOW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window is open.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Institutional capital is moving on-chain.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69080" cy="141732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636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⚡  Local AI = no cost ceiling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91109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Mac Mini M4 Pro with Gemma 27B runs inference 24/7. Cloud competitors pay $40K/month to do what we do for $0/call. A structural cost advantage that compounds.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069080" cy="141732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45720" cy="14173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5636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🔭  Regime-aware from day 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191109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Macro regime detection is in the scoring core — not an afterthought. In TIGHTENING cycles, the model correctly suppresses alts and favors fundamentals. Others don't.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69080" cy="141732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45720" cy="1417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1638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🌐  AI-native architecture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51129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MCP server, A2A task queue, llms.txt, /agent.json — built for the agentic era. When AI agents manage capital at scale, they call our API directly.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4069080" cy="1417320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17520"/>
            <a:ext cx="45720" cy="1417320"/>
          </a:xfrm>
          <a:prstGeom prst="rect">
            <a:avLst/>
          </a:prstGeom>
          <a:solidFill>
            <a:srgbClr val="00D98A"/>
          </a:solidFill>
          <a:ln w="12700">
            <a:solidFill>
              <a:srgbClr val="00D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31638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📐  Verifiable methodology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351129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CIS_METHODOLOGY.md is public. Any LP can audit the scoring logic. The edge comes from implementation, not secrecy.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1371600"/>
            <a:ext cx="2286000" cy="2286000"/>
          </a:xfrm>
          <a:prstGeom prst="ellipse">
            <a:avLst/>
          </a:prstGeom>
          <a:solidFill>
            <a:srgbClr val="2563EB">
              <a:alpha val="6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D4A84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COMETCLOUD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Let's build the future of</a:t>
            </a:r>
            <a:endParaRPr lang="en-US" sz="3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0F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institutional crypto intelligence.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$30M · 0% Management · Performance-aligned · Solana-native · Hong Kong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0"/>
          </a:xfrm>
          <a:prstGeom prst="line">
            <a:avLst/>
          </a:prstGeom>
          <a:noFill/>
          <a:ln w="12700">
            <a:solidFill>
              <a:srgbClr val="1E3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651760"/>
            <a:ext cx="1874520" cy="749808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651760"/>
            <a:ext cx="45720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0080" y="2944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D2FE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looloomi.ai/app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0" y="2651760"/>
            <a:ext cx="1874520" cy="749808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2651760"/>
            <a:ext cx="45720" cy="7498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INTELLIGENCE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97480" y="2944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D2FE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looloomi.ai/win.html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2651760"/>
            <a:ext cx="1874520" cy="749808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651760"/>
            <a:ext cx="4572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INDEX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54880" y="2944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D2FE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looloomi.ai/llms.txt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75120" y="2651760"/>
            <a:ext cx="1874520" cy="749808"/>
          </a:xfrm>
          <a:prstGeom prst="rect">
            <a:avLst/>
          </a:prstGeom>
          <a:solidFill>
            <a:srgbClr val="0D1438"/>
          </a:solidFill>
          <a:ln w="12700">
            <a:solidFill>
              <a:srgbClr val="1E3A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651760"/>
            <a:ext cx="45720" cy="749808"/>
          </a:xfrm>
          <a:prstGeom prst="rect">
            <a:avLst/>
          </a:prstGeom>
          <a:solidFill>
            <a:srgbClr val="00D98A"/>
          </a:solidFill>
          <a:ln w="12700">
            <a:solidFill>
              <a:srgbClr val="00D9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812280" y="2944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D2FE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looloomi.ai/methodology.html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14400" y="361188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Jazz Zhu  ·  Founder &amp; CEO  ·  CometCloud AI  ·  Hong Kong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91363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junxizhu@gmail.com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77316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— For Qualified Institutional Investors Only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CometCloud AI — Investor Deck</dc:title>
  <dc:subject>PptxGenJS Presentation</dc:subject>
  <dc:creator>PptxGenJS</dc:creator>
  <cp:lastModifiedBy>PptxGenJS</cp:lastModifiedBy>
  <cp:revision>1</cp:revision>
  <dcterms:created xsi:type="dcterms:W3CDTF">2026-06-04T12:49:47Z</dcterms:created>
  <dcterms:modified xsi:type="dcterms:W3CDTF">2026-06-04T12:49:47Z</dcterms:modified>
</cp:coreProperties>
</file>